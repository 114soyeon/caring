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2" r:id="rId3"/>
    <p:sldId id="263" r:id="rId4"/>
    <p:sldId id="259" r:id="rId5"/>
    <p:sldId id="257" r:id="rId6"/>
    <p:sldId id="258" r:id="rId7"/>
    <p:sldId id="260" r:id="rId8"/>
    <p:sldId id="266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6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EF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0364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6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돌하루팡 웹사이트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리뉴얼 기획안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749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제주 렌트카 가격비교 페이지 UI/UX 개선 제안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760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카링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소개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4206240"/>
          </a:xfrm>
          <a:prstGeom prst="roundRect">
            <a:avLst>
              <a:gd name="adj" fmla="val 3261"/>
            </a:avLst>
          </a:prstGeom>
          <a:solidFill>
            <a:srgbClr val="0A6CFF"/>
          </a:solidFill>
          <a:ln w="12700">
            <a:solidFill>
              <a:srgbClr val="0A6C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920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FE2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3774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카링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840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자동차와 여행을 연결해주는 역할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 소개 및 역할 분담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615184" cy="4206240"/>
          </a:xfrm>
          <a:prstGeom prst="roundRect">
            <a:avLst>
              <a:gd name="adj" fmla="val 4196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3464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권지원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8328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6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52272" y="3703320"/>
            <a:ext cx="25572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렌트카</a:t>
            </a:r>
            <a:r>
              <a:rPr lang="en-US" sz="14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</a:t>
            </a:r>
            <a:r>
              <a:rPr lang="en-US" sz="14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&amp; </a:t>
            </a:r>
            <a:r>
              <a:rPr lang="ko-KR" altLang="en-US" sz="14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담당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01568" y="1463040"/>
            <a:ext cx="2615184" cy="4206240"/>
          </a:xfrm>
          <a:prstGeom prst="roundRect">
            <a:avLst>
              <a:gd name="adj" fmla="val 4196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84448" y="283464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김미래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3584448" y="338328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6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483864" y="3703320"/>
            <a:ext cx="24871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최저가 </a:t>
            </a:r>
            <a:r>
              <a:rPr lang="en-US" sz="14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숙소</a:t>
            </a:r>
            <a:r>
              <a:rPr lang="en-US" sz="14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</a:t>
            </a:r>
            <a:r>
              <a:rPr lang="en-US" sz="14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&amp; </a:t>
            </a:r>
            <a:r>
              <a:rPr lang="ko-KR" altLang="en-US" sz="14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전반적인 </a:t>
            </a:r>
            <a:r>
              <a:rPr lang="en-US" sz="14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피그마</a:t>
            </a:r>
            <a:r>
              <a:rPr lang="en-US" sz="14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</a:t>
            </a:r>
            <a:r>
              <a:rPr lang="en-US" sz="14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피드백 담당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63056" y="1463040"/>
            <a:ext cx="2615184" cy="4206240"/>
          </a:xfrm>
          <a:prstGeom prst="roundRect">
            <a:avLst>
              <a:gd name="adj" fmla="val 4196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45936" y="283464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김소연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6345936" y="338328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6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163056" y="3703320"/>
            <a:ext cx="25694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헤더와 </a:t>
            </a:r>
            <a:r>
              <a:rPr lang="ko-KR" altLang="en-US" sz="14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푸터</a:t>
            </a:r>
            <a:r>
              <a:rPr lang="en-US" altLang="ko-KR" sz="1400" dirty="0"/>
              <a:t>, </a:t>
            </a:r>
            <a:r>
              <a:rPr lang="en-US" sz="14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고객서비스</a:t>
            </a:r>
            <a:r>
              <a:rPr lang="en-US" sz="14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</a:t>
            </a:r>
            <a:r>
              <a:rPr lang="en-US" altLang="ko-KR" sz="14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&amp; </a:t>
            </a:r>
            <a:r>
              <a:rPr lang="ko-KR" altLang="en-US" sz="14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담당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924544" y="1463040"/>
            <a:ext cx="2615184" cy="4206240"/>
          </a:xfrm>
          <a:prstGeom prst="roundRect">
            <a:avLst>
              <a:gd name="adj" fmla="val 4196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818066" y="1798952"/>
            <a:ext cx="844181" cy="844181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9107424" y="283464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나혜진</a:t>
            </a:r>
            <a:endParaRPr lang="en-US" sz="2100" dirty="0"/>
          </a:p>
        </p:txBody>
      </p:sp>
      <p:sp>
        <p:nvSpPr>
          <p:cNvPr id="26" name="Text 24"/>
          <p:cNvSpPr txBox="1"/>
          <p:nvPr/>
        </p:nvSpPr>
        <p:spPr>
          <a:xfrm>
            <a:off x="9107424" y="338328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6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924544" y="3703320"/>
            <a:ext cx="26273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</a:t>
            </a:r>
            <a:r>
              <a:rPr lang="en-US" sz="14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</a:t>
            </a:r>
            <a:r>
              <a:rPr lang="en-US" altLang="ko-KR" sz="14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</a:t>
            </a:r>
            <a:r>
              <a:rPr lang="en-US" altLang="ko-KR" sz="14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&amp; </a:t>
            </a:r>
            <a:r>
              <a:rPr lang="ko-KR" altLang="en-US" sz="14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정리 및 PPT 작성</a:t>
            </a:r>
            <a:endParaRPr lang="en-US" sz="1400" dirty="0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6F7B3CAC-9224-9161-594C-F5133C2EB9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1590558"/>
            <a:ext cx="914400" cy="1208003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D2320292-9F4B-C079-22F8-C0F3A24834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2988" y="1716704"/>
            <a:ext cx="1092587" cy="1047198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A6ACFF91-1DEA-84D9-EFB5-006E6A9A85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1943" y="1645511"/>
            <a:ext cx="668034" cy="11895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의도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6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"여행 계획의 첫 단계인 렌트카 예약을,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0A6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</a:t>
            </a:r>
            <a:r>
              <a:rPr lang="en-US" sz="2600" b="1" dirty="0" err="1">
                <a:solidFill>
                  <a:srgbClr val="0A6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넓고</a:t>
            </a:r>
            <a:r>
              <a:rPr lang="en-US" sz="2600" b="1" dirty="0">
                <a:solidFill>
                  <a:srgbClr val="0A6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600" b="1" dirty="0" err="1">
                <a:solidFill>
                  <a:srgbClr val="0A6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</a:t>
            </a:r>
            <a:r>
              <a:rPr lang="ko-KR" altLang="en-US" sz="2600" b="1" dirty="0">
                <a:solidFill>
                  <a:srgbClr val="0A6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</a:t>
            </a:r>
            <a:r>
              <a:rPr lang="en-US" sz="2600" b="1" dirty="0">
                <a:solidFill>
                  <a:srgbClr val="0A6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화면에서 시작하게 한다."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0040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사이트가 </a:t>
            </a:r>
            <a:r>
              <a:rPr lang="en-US" sz="19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가진</a:t>
            </a:r>
            <a:r>
              <a:rPr lang="en-US" sz="19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9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신뢰하는 부분</a:t>
            </a:r>
            <a:r>
              <a:rPr lang="en-US" altLang="ko-KR" sz="19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sz="19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</a:t>
            </a:r>
            <a:r>
              <a:rPr lang="en-US" sz="19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이용 </a:t>
            </a:r>
            <a:r>
              <a:rPr lang="en-US" sz="19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</a:t>
            </a:r>
            <a:r>
              <a:rPr lang="en-US" sz="19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9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후기</a:t>
            </a:r>
            <a:r>
              <a:rPr lang="en-US" sz="19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9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</a:t>
            </a:r>
            <a:r>
              <a:rPr lang="en-US" sz="19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en-US" sz="19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</a:t>
            </a:r>
            <a:r>
              <a:rPr lang="en-US" sz="19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가장 먼저 해야 할 일, 날짜 선택과 가격 비교에 </a:t>
            </a:r>
            <a:r>
              <a:rPr lang="en-US" sz="19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집중하도록</a:t>
            </a:r>
            <a:r>
              <a:rPr lang="en-US" sz="19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9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재구성</a:t>
            </a:r>
            <a:r>
              <a:rPr lang="en-US" sz="19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헤더와 여백을 </a:t>
            </a:r>
            <a:r>
              <a:rPr lang="en-US" sz="19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정리해</a:t>
            </a:r>
            <a:r>
              <a:rPr lang="en-US" sz="19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9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편하게</a:t>
            </a:r>
            <a:r>
              <a:rPr lang="en-US" sz="19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9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읽히는</a:t>
            </a:r>
            <a:r>
              <a:rPr lang="en-US" sz="19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9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레이아웃</a:t>
            </a:r>
            <a:r>
              <a:rPr lang="ko-KR" altLang="en-US" sz="19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바꾼다</a:t>
            </a:r>
            <a:r>
              <a:rPr lang="en-US" altLang="ko-KR" sz="19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돌하루팡인가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691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6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여행에 대한 관심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40280"/>
            <a:ext cx="29718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 모두 여행을 좋아해서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여행 서비스를 </a:t>
            </a:r>
            <a:r>
              <a:rPr lang="en-US" sz="15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리뉴얼</a:t>
            </a:r>
            <a:r>
              <a:rPr 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</a:t>
            </a:r>
            <a:r>
              <a:rPr lang="ko-KR" alt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결정</a:t>
            </a:r>
            <a:r>
              <a:rPr lang="en-US" altLang="ko-KR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43400" y="146304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1691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6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정리되지 않은 화면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240280"/>
            <a:ext cx="29718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여행 사이트를 살펴보던 중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정보가 </a:t>
            </a:r>
            <a:r>
              <a:rPr lang="en-US" sz="15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정돈되지</a:t>
            </a:r>
            <a:r>
              <a:rPr 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않은</a:t>
            </a:r>
            <a:r>
              <a:rPr 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5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돌하루팡</a:t>
            </a:r>
            <a:r>
              <a:rPr lang="ko-KR" alt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</a:t>
            </a:r>
            <a:r>
              <a:rPr lang="ko-KR" alt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발견</a:t>
            </a:r>
            <a:r>
              <a:rPr lang="en-US" altLang="ko-KR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146304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691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6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여지가 큼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240280"/>
            <a:ext cx="29718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 고객 1,200만 명 이상의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</a:t>
            </a:r>
            <a:r>
              <a:rPr 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하지만</a:t>
            </a:r>
            <a:r>
              <a:rPr lang="en-US" altLang="ko-KR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</a:rPr>
              <a:t>UI</a:t>
            </a:r>
            <a:r>
              <a:rPr lang="ko-KR" alt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</a:rPr>
              <a:t>적으로 </a:t>
            </a:r>
            <a:r>
              <a:rPr lang="en-US" sz="15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개선할</a:t>
            </a:r>
            <a:r>
              <a:rPr 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부분이</a:t>
            </a:r>
            <a:r>
              <a:rPr 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뚜렷</a:t>
            </a:r>
            <a:r>
              <a:rPr 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분석: 무엇이 문제인가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691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6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좁은 페이지 폭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40280"/>
            <a:ext cx="29718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altLang="en-US" sz="15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앱전용이라</a:t>
            </a:r>
            <a:r>
              <a:rPr lang="ko-KR" alt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콘텐츠가</a:t>
            </a:r>
            <a:r>
              <a:rPr 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화면 </a:t>
            </a:r>
            <a:r>
              <a:rPr lang="en-US" sz="15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</a:t>
            </a:r>
            <a:r>
              <a:rPr 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절반</a:t>
            </a:r>
            <a:r>
              <a:rPr 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폭에만 몰려 있고 양옆은 배지와 QR 등 </a:t>
            </a:r>
            <a:r>
              <a:rPr lang="en-US" sz="15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</a:t>
            </a:r>
            <a:r>
              <a:rPr 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요소로</a:t>
            </a:r>
            <a:r>
              <a:rPr 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채워져</a:t>
            </a:r>
            <a:r>
              <a:rPr 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있어</a:t>
            </a:r>
            <a:r>
              <a:rPr lang="ko-KR" alt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시선 분산</a:t>
            </a:r>
            <a:r>
              <a:rPr lang="en-US" altLang="ko-KR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43400" y="146304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1691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6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과밀한 헤더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240280"/>
            <a:ext cx="29718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상단 배너, SNS 아이콘, 캐릭터 아이콘, 로고, 8개 메뉴가 한 영역에 </a:t>
            </a:r>
            <a:r>
              <a:rPr lang="en-US" sz="15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겹쳐</a:t>
            </a:r>
            <a:r>
              <a:rPr 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있어</a:t>
            </a:r>
            <a:r>
              <a:rPr 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렌트카를</a:t>
            </a:r>
            <a:r>
              <a:rPr 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찾는</a:t>
            </a:r>
            <a:r>
              <a:rPr 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r>
              <a:rPr lang="ko-KR" alt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눈에 안 들어옴</a:t>
            </a:r>
            <a:r>
              <a:rPr lang="en-US" altLang="ko-KR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146304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691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6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변하지 않는 화면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240280"/>
            <a:ext cx="29718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 탭이나 다른 버튼을 눌러도 상단 이미지 </a:t>
            </a:r>
            <a:r>
              <a:rPr lang="en-US" sz="15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영역은</a:t>
            </a:r>
            <a:r>
              <a:rPr 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</a:t>
            </a:r>
            <a:r>
              <a:rPr lang="ko-KR" alt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</a:t>
            </a:r>
            <a:r>
              <a:rPr 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어떤 동작을 해도 똑같은 </a:t>
            </a:r>
            <a:r>
              <a:rPr lang="en-US" sz="15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화면처럼</a:t>
            </a:r>
            <a:r>
              <a:rPr 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dirty="0" err="1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느껴</a:t>
            </a:r>
            <a:r>
              <a:rPr lang="ko-KR" alt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짐</a:t>
            </a:r>
            <a:r>
              <a:rPr lang="en-US" altLang="ko-KR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리뉴얼 방향: Before → After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080294"/>
              </p:ext>
            </p:extLst>
          </p:nvPr>
        </p:nvGraphicFramePr>
        <p:xfrm>
          <a:off x="640080" y="1463040"/>
          <a:ext cx="10881360" cy="373075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리뉴얼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페이지 폭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중앙 좁은 단일 컬럼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전체 폭을 쓰는 넓은 레이아웃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헤더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배너·SNS·아이콘·8개 메뉴 혼재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로고 + 핵심 메뉴 중심으로 간소화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 영역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가격비교 시작 전 단계가 많음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날짜·장소 선택을 한 줄 검색바에서 바로 진행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목록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작은 글씨의 표·텍스트 나열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카드형 그리드로 한눈에 비교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정보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텍스트 위주로 나열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수·실시간 예약·제주 날씨를 한 영역에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9237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dirty="0">
                <a:solidFill>
                  <a:srgbClr val="1B2433"/>
                </a:solidFill>
                <a:latin typeface="Malgun Gothic"/>
              </a:rPr>
              <a:t>Before &amp; After : </a:t>
            </a:r>
            <a:r>
              <a:rPr lang="ko-KR" altLang="en-US" sz="3000" b="1" dirty="0">
                <a:solidFill>
                  <a:srgbClr val="1B2433"/>
                </a:solidFill>
                <a:latin typeface="Malgun Gothic"/>
              </a:rPr>
              <a:t>헤더</a:t>
            </a:r>
            <a:r>
              <a:rPr lang="en-US" altLang="ko-KR" sz="3000" b="1" dirty="0">
                <a:solidFill>
                  <a:srgbClr val="1B2433"/>
                </a:solidFill>
                <a:latin typeface="Malgun Gothic"/>
              </a:rPr>
              <a:t>&amp;</a:t>
            </a:r>
            <a:r>
              <a:rPr sz="3000" b="1" dirty="0" err="1">
                <a:solidFill>
                  <a:srgbClr val="1B2433"/>
                </a:solidFill>
                <a:latin typeface="Malgun Gothic"/>
              </a:rPr>
              <a:t>메인</a:t>
            </a:r>
            <a:endParaRPr sz="3000" b="1" dirty="0">
              <a:solidFill>
                <a:srgbClr val="1B2433"/>
              </a:solidFill>
              <a:latin typeface="Malgun Gothic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A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BEFORE</a:t>
            </a:r>
          </a:p>
        </p:txBody>
      </p:sp>
      <p:pic>
        <p:nvPicPr>
          <p:cNvPr id="4" name="Before_메인" descr="crop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0077"/>
            <a:ext cx="4806063" cy="4069649"/>
          </a:xfrm>
          <a:prstGeom prst="rect">
            <a:avLst/>
          </a:prstGeom>
          <a:ln w="12700">
            <a:solidFill>
              <a:srgbClr val="D5DEEE"/>
            </a:solidFill>
          </a:ln>
        </p:spPr>
      </p:pic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1D72CEF3-8548-8F87-37FF-39751A44CC84}"/>
              </a:ext>
            </a:extLst>
          </p:cNvPr>
          <p:cNvSpPr/>
          <p:nvPr/>
        </p:nvSpPr>
        <p:spPr>
          <a:xfrm>
            <a:off x="6193478" y="1280160"/>
            <a:ext cx="1188720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Malgun Gothic"/>
              </a:rPr>
              <a:t>AFTER</a:t>
            </a:r>
            <a:endParaRPr sz="1400" b="1" dirty="0">
              <a:solidFill>
                <a:srgbClr val="FFFFFF"/>
              </a:solidFill>
              <a:latin typeface="Malgun Gothic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27A2E32-8CD6-D5D5-30B5-9C3E9A21F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859" y="1820077"/>
            <a:ext cx="4313206" cy="458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830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B2433"/>
                </a:solidFill>
                <a:latin typeface="Malgun Gothic"/>
              </a:rPr>
              <a:t>Before &amp; After : 렌트카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A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BEFORE</a:t>
            </a:r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41BC4A96-BE88-D2D0-A0EE-CA153C0614B7}"/>
              </a:ext>
            </a:extLst>
          </p:cNvPr>
          <p:cNvSpPr/>
          <p:nvPr/>
        </p:nvSpPr>
        <p:spPr>
          <a:xfrm>
            <a:off x="6193478" y="1280160"/>
            <a:ext cx="1188720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Malgun Gothic"/>
              </a:rPr>
              <a:t>AFTER</a:t>
            </a:r>
            <a:endParaRPr sz="1400" b="1" dirty="0">
              <a:solidFill>
                <a:srgbClr val="FFFFFF"/>
              </a:solidFill>
              <a:latin typeface="Malgun Gothic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BF540BB-11AE-20F6-5547-E0DAF1D6F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2198" y="1783080"/>
            <a:ext cx="2874433" cy="497037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51B29A8-01FD-C284-3741-A618033B7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768" y="1923451"/>
            <a:ext cx="4812930" cy="4740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358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B2433"/>
                </a:solidFill>
                <a:latin typeface="Malgun Gothic"/>
              </a:rPr>
              <a:t>Before &amp; After : 숙소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A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BEFORE</a:t>
            </a:r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B975075E-CA93-FF70-6068-B05B1C56D838}"/>
              </a:ext>
            </a:extLst>
          </p:cNvPr>
          <p:cNvSpPr/>
          <p:nvPr/>
        </p:nvSpPr>
        <p:spPr>
          <a:xfrm>
            <a:off x="6193478" y="1280160"/>
            <a:ext cx="1188720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Malgun Gothic"/>
              </a:rPr>
              <a:t>AFTER</a:t>
            </a:r>
            <a:endParaRPr sz="1400" b="1" dirty="0">
              <a:solidFill>
                <a:srgbClr val="FFFFFF"/>
              </a:solidFill>
              <a:latin typeface="Malgun Gothic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EE6FC47-C6E1-BA58-5C3A-D31B0D264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2198" y="1783080"/>
            <a:ext cx="3692106" cy="461897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D2E44FD-32B6-BF77-823A-A60895A38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83928"/>
            <a:ext cx="4471759" cy="4562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379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C76840-8DEA-1F60-92AC-3527CB1F6236}"/>
              </a:ext>
            </a:extLst>
          </p:cNvPr>
          <p:cNvSpPr txBox="1"/>
          <p:nvPr/>
        </p:nvSpPr>
        <p:spPr>
          <a:xfrm>
            <a:off x="640080" y="411480"/>
            <a:ext cx="1088136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dirty="0">
                <a:solidFill>
                  <a:srgbClr val="1B2433"/>
                </a:solidFill>
                <a:latin typeface="Malgun Gothic"/>
              </a:rPr>
              <a:t>Before &amp; After : </a:t>
            </a:r>
            <a:r>
              <a:rPr lang="ko-KR" altLang="en-US" sz="3000" b="1" dirty="0">
                <a:solidFill>
                  <a:srgbClr val="1B2433"/>
                </a:solidFill>
                <a:latin typeface="Malgun Gothic"/>
              </a:rPr>
              <a:t>혜택 </a:t>
            </a:r>
            <a:r>
              <a:rPr lang="en-US" altLang="ko-KR" sz="3000" b="1" dirty="0">
                <a:solidFill>
                  <a:srgbClr val="1B2433"/>
                </a:solidFill>
                <a:latin typeface="Malgun Gothic"/>
              </a:rPr>
              <a:t>&amp; </a:t>
            </a:r>
            <a:r>
              <a:rPr lang="ko-KR" altLang="en-US" sz="3000" b="1" dirty="0">
                <a:solidFill>
                  <a:srgbClr val="1B2433"/>
                </a:solidFill>
                <a:latin typeface="Malgun Gothic"/>
              </a:rPr>
              <a:t>이벤트</a:t>
            </a:r>
            <a:endParaRPr sz="3000" b="1" dirty="0">
              <a:solidFill>
                <a:srgbClr val="1B2433"/>
              </a:solidFill>
              <a:latin typeface="Malgun Gothic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1C264F4-880F-AF47-9AA8-C4608D2C6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287" y="1867777"/>
            <a:ext cx="4988928" cy="3534946"/>
          </a:xfrm>
          <a:prstGeom prst="rect">
            <a:avLst/>
          </a:prstGeom>
        </p:spPr>
      </p:pic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AFFB5250-BBA4-B3D4-EA0E-27C2F5D801FD}"/>
              </a:ext>
            </a:extLst>
          </p:cNvPr>
          <p:cNvSpPr/>
          <p:nvPr/>
        </p:nvSpPr>
        <p:spPr>
          <a:xfrm>
            <a:off x="381287" y="1224951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A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Malgun Gothic"/>
              </a:rPr>
              <a:t>BEFORE</a:t>
            </a:r>
          </a:p>
        </p:txBody>
      </p:sp>
      <p:sp>
        <p:nvSpPr>
          <p:cNvPr id="9" name="Rounded Rectangle 2">
            <a:extLst>
              <a:ext uri="{FF2B5EF4-FFF2-40B4-BE49-F238E27FC236}">
                <a16:creationId xmlns:a16="http://schemas.microsoft.com/office/drawing/2014/main" id="{C5389B37-E85B-8A7D-1742-0C854D4F4187}"/>
              </a:ext>
            </a:extLst>
          </p:cNvPr>
          <p:cNvSpPr/>
          <p:nvPr/>
        </p:nvSpPr>
        <p:spPr>
          <a:xfrm>
            <a:off x="6193478" y="1280160"/>
            <a:ext cx="1188720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Malgun Gothic"/>
              </a:rPr>
              <a:t>AFTER</a:t>
            </a:r>
            <a:endParaRPr sz="1400" b="1" dirty="0">
              <a:solidFill>
                <a:srgbClr val="FFFFFF"/>
              </a:solidFill>
              <a:latin typeface="Malgun Gothic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C4120E3-327E-E174-9F35-4ED3BD63A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7838" y="1848926"/>
            <a:ext cx="4016097" cy="4597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642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B5195E-2921-06E8-18F5-E8DEC45F9918}"/>
              </a:ext>
            </a:extLst>
          </p:cNvPr>
          <p:cNvSpPr txBox="1"/>
          <p:nvPr/>
        </p:nvSpPr>
        <p:spPr>
          <a:xfrm>
            <a:off x="640080" y="411480"/>
            <a:ext cx="1088136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dirty="0">
                <a:solidFill>
                  <a:srgbClr val="1B2433"/>
                </a:solidFill>
                <a:latin typeface="Malgun Gothic"/>
              </a:rPr>
              <a:t>Before &amp; After : </a:t>
            </a:r>
            <a:r>
              <a:rPr lang="ko-KR" altLang="en-US" sz="3000" b="1" dirty="0">
                <a:solidFill>
                  <a:srgbClr val="1B2433"/>
                </a:solidFill>
                <a:latin typeface="Malgun Gothic"/>
              </a:rPr>
              <a:t>이용가이드</a:t>
            </a:r>
            <a:endParaRPr sz="3000" b="1" dirty="0">
              <a:solidFill>
                <a:srgbClr val="1B2433"/>
              </a:solidFill>
              <a:latin typeface="Malgun Gothic"/>
            </a:endParaRP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D3F9B915-58D8-22ED-6701-6F642E7CB76B}"/>
              </a:ext>
            </a:extLst>
          </p:cNvPr>
          <p:cNvSpPr/>
          <p:nvPr/>
        </p:nvSpPr>
        <p:spPr>
          <a:xfrm>
            <a:off x="381287" y="1224951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A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Malgun Gothic"/>
              </a:rPr>
              <a:t>BEFORE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1A520FA-7F5A-783C-9A53-D8F899823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867" y="1893995"/>
            <a:ext cx="6663001" cy="4157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232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F45E3D5-F86B-F3DE-096F-ED58AE51B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807" y="1179275"/>
            <a:ext cx="4010382" cy="4680867"/>
          </a:xfrm>
          <a:prstGeom prst="rect">
            <a:avLst/>
          </a:prstGeom>
        </p:spPr>
      </p:pic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4342C0E4-32FE-0374-F3F0-09E0D344EF7D}"/>
              </a:ext>
            </a:extLst>
          </p:cNvPr>
          <p:cNvSpPr/>
          <p:nvPr/>
        </p:nvSpPr>
        <p:spPr>
          <a:xfrm>
            <a:off x="569055" y="479629"/>
            <a:ext cx="1188720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Malgun Gothic"/>
              </a:rPr>
              <a:t>AFTER</a:t>
            </a:r>
            <a:endParaRPr sz="1400" b="1" dirty="0">
              <a:solidFill>
                <a:srgbClr val="FFFFFF"/>
              </a:solidFill>
              <a:latin typeface="Malgun Gothic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2BEDC78-23F0-EEE7-EA83-FC0C3D3DE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796" y="1179275"/>
            <a:ext cx="4139815" cy="4933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876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BA057B2-89D0-03C2-6446-85E765F300B9}"/>
              </a:ext>
            </a:extLst>
          </p:cNvPr>
          <p:cNvSpPr txBox="1"/>
          <p:nvPr/>
        </p:nvSpPr>
        <p:spPr>
          <a:xfrm>
            <a:off x="640080" y="411480"/>
            <a:ext cx="1088136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3000" b="1" dirty="0">
                <a:solidFill>
                  <a:srgbClr val="1B2433"/>
                </a:solidFill>
                <a:latin typeface="Malgun Gothic"/>
                <a:sym typeface="Wingdings" panose="05000000000000000000" pitchFamily="2" charset="2"/>
              </a:rPr>
              <a:t>트러블 슈팅 </a:t>
            </a:r>
            <a:r>
              <a:rPr lang="en-US" sz="3000" b="1" dirty="0">
                <a:solidFill>
                  <a:srgbClr val="1B2433"/>
                </a:solidFill>
                <a:latin typeface="Malgun Gothic"/>
                <a:sym typeface="Wingdings" panose="05000000000000000000" pitchFamily="2" charset="2"/>
              </a:rPr>
              <a:t>(</a:t>
            </a:r>
            <a:r>
              <a:rPr lang="ko-KR" altLang="en-US" sz="3000" b="1" dirty="0">
                <a:solidFill>
                  <a:srgbClr val="1B2433"/>
                </a:solidFill>
                <a:latin typeface="Malgun Gothic"/>
                <a:sym typeface="Wingdings" panose="05000000000000000000" pitchFamily="2" charset="2"/>
              </a:rPr>
              <a:t>문제 </a:t>
            </a:r>
            <a:r>
              <a:rPr lang="en-US" altLang="ko-KR" sz="3000" b="1" dirty="0">
                <a:solidFill>
                  <a:srgbClr val="1B2433"/>
                </a:solidFill>
                <a:latin typeface="Malgun Gothic"/>
                <a:sym typeface="Wingdings" panose="05000000000000000000" pitchFamily="2" charset="2"/>
              </a:rPr>
              <a:t>&gt; </a:t>
            </a:r>
            <a:r>
              <a:rPr lang="ko-KR" altLang="en-US" sz="3000" b="1" dirty="0">
                <a:solidFill>
                  <a:srgbClr val="1B2433"/>
                </a:solidFill>
                <a:latin typeface="Malgun Gothic"/>
                <a:sym typeface="Wingdings" panose="05000000000000000000" pitchFamily="2" charset="2"/>
              </a:rPr>
              <a:t>원인 </a:t>
            </a:r>
            <a:r>
              <a:rPr lang="en-US" altLang="ko-KR" sz="3000" b="1" dirty="0">
                <a:solidFill>
                  <a:srgbClr val="1B2433"/>
                </a:solidFill>
                <a:latin typeface="Malgun Gothic"/>
                <a:sym typeface="Wingdings" panose="05000000000000000000" pitchFamily="2" charset="2"/>
              </a:rPr>
              <a:t>&gt; </a:t>
            </a:r>
            <a:r>
              <a:rPr lang="ko-KR" altLang="en-US" sz="3000" b="1" dirty="0">
                <a:solidFill>
                  <a:srgbClr val="1B2433"/>
                </a:solidFill>
                <a:latin typeface="Malgun Gothic"/>
                <a:sym typeface="Wingdings" panose="05000000000000000000" pitchFamily="2" charset="2"/>
              </a:rPr>
              <a:t>해결 </a:t>
            </a:r>
            <a:r>
              <a:rPr lang="en-US" altLang="ko-KR" sz="3000" b="1" dirty="0">
                <a:solidFill>
                  <a:srgbClr val="1B2433"/>
                </a:solidFill>
                <a:latin typeface="Malgun Gothic"/>
                <a:sym typeface="Wingdings" panose="05000000000000000000" pitchFamily="2" charset="2"/>
              </a:rPr>
              <a:t>&gt; </a:t>
            </a:r>
            <a:r>
              <a:rPr lang="ko-KR" altLang="en-US" sz="3000" b="1" dirty="0">
                <a:solidFill>
                  <a:srgbClr val="1B2433"/>
                </a:solidFill>
                <a:latin typeface="Malgun Gothic"/>
                <a:sym typeface="Wingdings" panose="05000000000000000000" pitchFamily="2" charset="2"/>
              </a:rPr>
              <a:t>결과</a:t>
            </a:r>
            <a:r>
              <a:rPr lang="en-US" sz="3000" b="1" dirty="0">
                <a:solidFill>
                  <a:srgbClr val="1B2433"/>
                </a:solidFill>
                <a:latin typeface="Malgun Gothic"/>
                <a:sym typeface="Wingdings" panose="05000000000000000000" pitchFamily="2" charset="2"/>
              </a:rPr>
              <a:t>)</a:t>
            </a:r>
            <a:r>
              <a:rPr lang="ko-KR" altLang="en-US" sz="3000" b="1" dirty="0">
                <a:solidFill>
                  <a:srgbClr val="1B2433"/>
                </a:solidFill>
                <a:latin typeface="Malgun Gothic"/>
              </a:rPr>
              <a:t> </a:t>
            </a:r>
            <a:endParaRPr sz="3000" b="1" dirty="0">
              <a:solidFill>
                <a:srgbClr val="1B2433"/>
              </a:solidFill>
              <a:latin typeface="Malgun Gothic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11B838-A661-5296-BABA-DFA77E95BE94}"/>
              </a:ext>
            </a:extLst>
          </p:cNvPr>
          <p:cNvSpPr txBox="1"/>
          <p:nvPr/>
        </p:nvSpPr>
        <p:spPr>
          <a:xfrm>
            <a:off x="1138688" y="1849564"/>
            <a:ext cx="1028053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300"/>
              </a:spcBef>
              <a:spcAft>
                <a:spcPts val="300"/>
              </a:spcAft>
              <a:buNone/>
            </a:pPr>
            <a:r>
              <a:rPr lang="ko-KR" altLang="ko-KR" dirty="0">
                <a:solidFill>
                  <a:schemeClr val="tx1"/>
                </a:solidFill>
                <a:effectLst/>
              </a:rPr>
              <a:t>헤더와 </a:t>
            </a:r>
            <a:r>
              <a:rPr lang="ko-KR" altLang="ko-KR" dirty="0" err="1">
                <a:solidFill>
                  <a:schemeClr val="tx1"/>
                </a:solidFill>
                <a:effectLst/>
              </a:rPr>
              <a:t>푸터를</a:t>
            </a:r>
            <a:r>
              <a:rPr lang="ko-KR" altLang="ko-KR" dirty="0">
                <a:solidFill>
                  <a:schemeClr val="tx1"/>
                </a:solidFill>
                <a:effectLst/>
              </a:rPr>
              <a:t> 공통으로 작업했으나 다른</a:t>
            </a:r>
            <a:r>
              <a:rPr lang="en-US" altLang="ko-KR" dirty="0">
                <a:solidFill>
                  <a:schemeClr val="tx1"/>
                </a:solidFill>
                <a:effectLst/>
              </a:rPr>
              <a:t> </a:t>
            </a:r>
            <a:r>
              <a:rPr lang="ko-KR" altLang="en-US" dirty="0">
                <a:solidFill>
                  <a:schemeClr val="tx1"/>
                </a:solidFill>
                <a:effectLst/>
              </a:rPr>
              <a:t>팀원들의</a:t>
            </a:r>
            <a:r>
              <a:rPr lang="ko-KR" altLang="ko-KR" dirty="0">
                <a:solidFill>
                  <a:schemeClr val="tx1"/>
                </a:solidFill>
                <a:effectLst/>
              </a:rPr>
              <a:t> 페이지에서 </a:t>
            </a:r>
            <a:r>
              <a:rPr lang="ko-KR" altLang="ko-KR" dirty="0" err="1">
                <a:solidFill>
                  <a:schemeClr val="tx1"/>
                </a:solidFill>
                <a:effectLst/>
              </a:rPr>
              <a:t>깨져보임</a:t>
            </a:r>
            <a:r>
              <a:rPr lang="ko-KR" altLang="ko-KR" dirty="0">
                <a:solidFill>
                  <a:schemeClr val="tx1"/>
                </a:solidFill>
                <a:effectLst/>
              </a:rPr>
              <a:t>.</a:t>
            </a:r>
            <a:br>
              <a:rPr lang="ko-KR" altLang="ko-KR" dirty="0">
                <a:solidFill>
                  <a:schemeClr val="tx1"/>
                </a:solidFill>
                <a:effectLst/>
              </a:rPr>
            </a:br>
            <a:r>
              <a:rPr lang="ko-KR" altLang="ko-KR" dirty="0">
                <a:solidFill>
                  <a:schemeClr val="tx1"/>
                </a:solidFill>
                <a:effectLst/>
              </a:rPr>
              <a:t>공통으로 작업 중 다른 페이지 작업물들이 </a:t>
            </a:r>
            <a:r>
              <a:rPr lang="ko-KR" altLang="ko-KR" dirty="0" err="1">
                <a:solidFill>
                  <a:schemeClr val="tx1"/>
                </a:solidFill>
                <a:effectLst/>
              </a:rPr>
              <a:t>커밋되어</a:t>
            </a:r>
            <a:r>
              <a:rPr lang="ko-KR" altLang="ko-KR" dirty="0">
                <a:solidFill>
                  <a:schemeClr val="tx1"/>
                </a:solidFill>
                <a:effectLst/>
              </a:rPr>
              <a:t> 꼬인</a:t>
            </a:r>
            <a:r>
              <a:rPr lang="en-US" altLang="ko-KR" dirty="0">
                <a:solidFill>
                  <a:schemeClr val="tx1"/>
                </a:solidFill>
                <a:effectLst/>
              </a:rPr>
              <a:t> </a:t>
            </a:r>
            <a:r>
              <a:rPr lang="ko-KR" altLang="ko-KR" dirty="0">
                <a:solidFill>
                  <a:schemeClr val="tx1"/>
                </a:solidFill>
                <a:effectLst/>
              </a:rPr>
              <a:t>것을 확인.</a:t>
            </a:r>
            <a:br>
              <a:rPr lang="ko-KR" altLang="ko-KR" dirty="0">
                <a:solidFill>
                  <a:schemeClr val="tx1"/>
                </a:solidFill>
                <a:effectLst/>
              </a:rPr>
            </a:br>
            <a:r>
              <a:rPr lang="ko-KR" altLang="ko-KR" dirty="0">
                <a:solidFill>
                  <a:schemeClr val="tx1"/>
                </a:solidFill>
                <a:effectLst/>
              </a:rPr>
              <a:t>개인이 담당했던 페이지에</a:t>
            </a:r>
            <a:r>
              <a:rPr lang="ko-KR" altLang="en-US" dirty="0">
                <a:solidFill>
                  <a:schemeClr val="tx1"/>
                </a:solidFill>
                <a:effectLst/>
              </a:rPr>
              <a:t>서는</a:t>
            </a:r>
            <a:r>
              <a:rPr lang="ko-KR" altLang="ko-KR" dirty="0">
                <a:solidFill>
                  <a:schemeClr val="tx1"/>
                </a:solidFill>
                <a:effectLst/>
              </a:rPr>
              <a:t> 작업한 헤더와 </a:t>
            </a:r>
            <a:r>
              <a:rPr lang="ko-KR" altLang="ko-KR" dirty="0" err="1">
                <a:solidFill>
                  <a:schemeClr val="tx1"/>
                </a:solidFill>
                <a:effectLst/>
              </a:rPr>
              <a:t>푸터가</a:t>
            </a:r>
            <a:r>
              <a:rPr lang="ko-KR" altLang="ko-KR" dirty="0">
                <a:solidFill>
                  <a:schemeClr val="tx1"/>
                </a:solidFill>
                <a:effectLst/>
              </a:rPr>
              <a:t> 살아있어 </a:t>
            </a:r>
            <a:r>
              <a:rPr lang="ko-KR" altLang="ko-KR" dirty="0" err="1">
                <a:solidFill>
                  <a:schemeClr val="tx1"/>
                </a:solidFill>
                <a:effectLst/>
              </a:rPr>
              <a:t>메인에</a:t>
            </a:r>
            <a:r>
              <a:rPr lang="ko-KR" altLang="ko-KR" dirty="0">
                <a:solidFill>
                  <a:schemeClr val="tx1"/>
                </a:solidFill>
                <a:effectLst/>
              </a:rPr>
              <a:t> 작업물을 </a:t>
            </a:r>
            <a:r>
              <a:rPr lang="ko-KR" altLang="ko-KR" dirty="0" err="1">
                <a:solidFill>
                  <a:schemeClr val="tx1"/>
                </a:solidFill>
                <a:effectLst/>
              </a:rPr>
              <a:t>브랜치에</a:t>
            </a:r>
            <a:r>
              <a:rPr lang="ko-KR" altLang="ko-KR" dirty="0">
                <a:solidFill>
                  <a:schemeClr val="tx1"/>
                </a:solidFill>
                <a:effectLst/>
              </a:rPr>
              <a:t> 받고 다시 </a:t>
            </a:r>
            <a:r>
              <a:rPr lang="ko-KR" altLang="ko-KR" dirty="0" err="1">
                <a:solidFill>
                  <a:schemeClr val="tx1"/>
                </a:solidFill>
                <a:effectLst/>
              </a:rPr>
              <a:t>올리고를</a:t>
            </a:r>
            <a:r>
              <a:rPr lang="ko-KR" altLang="ko-KR" dirty="0">
                <a:solidFill>
                  <a:schemeClr val="tx1"/>
                </a:solidFill>
                <a:effectLst/>
              </a:rPr>
              <a:t> 반복</a:t>
            </a:r>
            <a:r>
              <a:rPr lang="ko-KR" altLang="en-US" dirty="0">
                <a:solidFill>
                  <a:schemeClr val="tx1"/>
                </a:solidFill>
                <a:effectLst/>
              </a:rPr>
              <a:t>하여 수정</a:t>
            </a:r>
            <a:r>
              <a:rPr lang="ko-KR" altLang="ko-KR" dirty="0">
                <a:solidFill>
                  <a:schemeClr val="tx1"/>
                </a:solidFill>
                <a:effectLst/>
              </a:rPr>
              <a:t>.</a:t>
            </a:r>
            <a:br>
              <a:rPr lang="ko-KR" altLang="ko-KR" dirty="0">
                <a:solidFill>
                  <a:schemeClr val="tx1"/>
                </a:solidFill>
                <a:effectLst/>
              </a:rPr>
            </a:br>
            <a:r>
              <a:rPr lang="ko-KR" altLang="ko-KR" dirty="0">
                <a:solidFill>
                  <a:schemeClr val="tx1"/>
                </a:solidFill>
                <a:effectLst/>
              </a:rPr>
              <a:t>모든 페이지의 헤더 </a:t>
            </a:r>
            <a:r>
              <a:rPr lang="ko-KR" altLang="ko-KR" dirty="0" err="1">
                <a:solidFill>
                  <a:schemeClr val="tx1"/>
                </a:solidFill>
                <a:effectLst/>
              </a:rPr>
              <a:t>푸터</a:t>
            </a:r>
            <a:r>
              <a:rPr lang="ko-KR" altLang="ko-KR" dirty="0">
                <a:solidFill>
                  <a:schemeClr val="tx1"/>
                </a:solidFill>
                <a:effectLst/>
              </a:rPr>
              <a:t> 해결.</a:t>
            </a:r>
            <a:endParaRPr lang="ko-KR" altLang="ko-KR" dirty="0">
              <a:solidFill>
                <a:srgbClr val="1D1C1D"/>
              </a:solidFill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837E14-E4C1-B78C-20D6-A5823F3A806E}"/>
              </a:ext>
            </a:extLst>
          </p:cNvPr>
          <p:cNvSpPr txBox="1"/>
          <p:nvPr/>
        </p:nvSpPr>
        <p:spPr>
          <a:xfrm>
            <a:off x="1138688" y="148023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김소연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F9DDC3-2D62-658F-07DD-982F4E1641D9}"/>
              </a:ext>
            </a:extLst>
          </p:cNvPr>
          <p:cNvSpPr txBox="1"/>
          <p:nvPr/>
        </p:nvSpPr>
        <p:spPr>
          <a:xfrm>
            <a:off x="1078302" y="369622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나혜진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B00530-06DE-554F-76F7-A6C952C21776}"/>
              </a:ext>
            </a:extLst>
          </p:cNvPr>
          <p:cNvSpPr txBox="1"/>
          <p:nvPr/>
        </p:nvSpPr>
        <p:spPr>
          <a:xfrm>
            <a:off x="1078301" y="4157890"/>
            <a:ext cx="96184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300"/>
              </a:spcBef>
              <a:spcAft>
                <a:spcPts val="300"/>
              </a:spcAft>
              <a:buNone/>
            </a:pPr>
            <a:r>
              <a:rPr lang="ko-KR" altLang="en-US" sz="1800" dirty="0" err="1">
                <a:solidFill>
                  <a:schemeClr val="tx1"/>
                </a:solidFill>
                <a:effectLst/>
              </a:rPr>
              <a:t>맞춰놓은</a:t>
            </a:r>
            <a:r>
              <a:rPr lang="ko-KR" altLang="en-US" sz="1800" dirty="0">
                <a:solidFill>
                  <a:schemeClr val="tx1"/>
                </a:solidFill>
                <a:effectLst/>
              </a:rPr>
              <a:t> 슬라이더의 크기와 원본 이미지의 사이즈가 맞지 않음</a:t>
            </a:r>
            <a:r>
              <a:rPr lang="en-US" altLang="ko-KR" sz="1800" dirty="0">
                <a:solidFill>
                  <a:schemeClr val="tx1"/>
                </a:solidFill>
                <a:effectLst/>
              </a:rPr>
              <a:t>.</a:t>
            </a:r>
            <a:br>
              <a:rPr lang="en-US" altLang="ko-KR" sz="1800" dirty="0">
                <a:solidFill>
                  <a:schemeClr val="tx1"/>
                </a:solidFill>
                <a:effectLst/>
              </a:rPr>
            </a:br>
            <a:r>
              <a:rPr lang="ko-KR" altLang="en-US" dirty="0"/>
              <a:t>비율이 전혀 맞지 않음</a:t>
            </a:r>
            <a:r>
              <a:rPr lang="en-US" altLang="ko-KR" dirty="0"/>
              <a:t>.</a:t>
            </a:r>
            <a:br>
              <a:rPr lang="en-US" altLang="ko-KR" sz="1800" dirty="0">
                <a:solidFill>
                  <a:schemeClr val="tx1"/>
                </a:solidFill>
                <a:effectLst/>
              </a:rPr>
            </a:br>
            <a:r>
              <a:rPr lang="ko-KR" altLang="en-US" dirty="0"/>
              <a:t>미리 </a:t>
            </a:r>
            <a:r>
              <a:rPr lang="ko-KR" altLang="en-US" dirty="0" err="1"/>
              <a:t>맞춰놓은</a:t>
            </a:r>
            <a:r>
              <a:rPr lang="ko-KR" altLang="en-US" dirty="0"/>
              <a:t> 슬라이더의 크기를 원본 이미지 비율에 맞게 줄임</a:t>
            </a:r>
            <a:br>
              <a:rPr lang="en-US" altLang="ko-KR" sz="1800" dirty="0">
                <a:solidFill>
                  <a:schemeClr val="tx1"/>
                </a:solidFill>
                <a:effectLst/>
              </a:rPr>
            </a:br>
            <a:r>
              <a:rPr lang="ko-KR" altLang="en-US" sz="1800" dirty="0">
                <a:solidFill>
                  <a:schemeClr val="tx1"/>
                </a:solidFill>
                <a:effectLst/>
              </a:rPr>
              <a:t>페이지에 잘 보임</a:t>
            </a:r>
            <a:r>
              <a:rPr lang="en-US" altLang="ko-KR" sz="1800" dirty="0">
                <a:solidFill>
                  <a:schemeClr val="tx1"/>
                </a:solidFill>
                <a:effectLst/>
              </a:rPr>
              <a:t>.</a:t>
            </a:r>
            <a:endParaRPr lang="ko-KR" altLang="ko-KR" sz="1800" dirty="0">
              <a:solidFill>
                <a:srgbClr val="1D1C1D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328443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A22C07-FCF6-BC2A-2278-5F934089C323}"/>
              </a:ext>
            </a:extLst>
          </p:cNvPr>
          <p:cNvSpPr txBox="1"/>
          <p:nvPr/>
        </p:nvSpPr>
        <p:spPr>
          <a:xfrm>
            <a:off x="571500" y="1775460"/>
            <a:ext cx="101942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ko-KR" altLang="en-US" dirty="0"/>
              <a:t>맡은 페이지의 </a:t>
            </a:r>
            <a:r>
              <a:rPr lang="ko-KR" altLang="ko-KR" dirty="0"/>
              <a:t>카드 화살표를 눌렀는데 같은 라인 카드까지 열림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ko-KR" altLang="ko-KR" dirty="0"/>
              <a:t>그리드의 기본값 때문에, 한 카드가 펼쳐지면 같은 줄 옆 카드도 같은 높이로 늘어남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ko-KR" altLang="ko-KR" dirty="0"/>
              <a:t>카드들이 각자 자기 높이만큼만 차지하도록 정렬 방식을 위쪽 기준으로 시작으로 바꿈</a:t>
            </a:r>
            <a:r>
              <a:rPr lang="en-US" altLang="ko-KR" dirty="0"/>
              <a:t>  </a:t>
            </a:r>
            <a:br>
              <a:rPr lang="en-US" altLang="ko-KR" dirty="0"/>
            </a:br>
            <a:r>
              <a:rPr lang="ko-KR" altLang="ko-KR" dirty="0"/>
              <a:t>카드가 펼쳐져도 옆 카드는 늘어나지 않음</a:t>
            </a:r>
            <a:endParaRPr lang="ko-KR" altLang="ko-KR" sz="1800" dirty="0">
              <a:solidFill>
                <a:srgbClr val="1D1C1D"/>
              </a:soli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7A2F7C-C723-AF19-2FFA-C192EE1F20A2}"/>
              </a:ext>
            </a:extLst>
          </p:cNvPr>
          <p:cNvSpPr txBox="1"/>
          <p:nvPr/>
        </p:nvSpPr>
        <p:spPr>
          <a:xfrm>
            <a:off x="640080" y="411480"/>
            <a:ext cx="1088136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3000" b="1" dirty="0">
                <a:solidFill>
                  <a:srgbClr val="1B2433"/>
                </a:solidFill>
                <a:latin typeface="Malgun Gothic"/>
                <a:sym typeface="Wingdings" panose="05000000000000000000" pitchFamily="2" charset="2"/>
              </a:rPr>
              <a:t>트러블 슈팅 </a:t>
            </a:r>
            <a:r>
              <a:rPr lang="en-US" sz="3000" b="1" dirty="0">
                <a:solidFill>
                  <a:srgbClr val="1B2433"/>
                </a:solidFill>
                <a:latin typeface="Malgun Gothic"/>
                <a:sym typeface="Wingdings" panose="05000000000000000000" pitchFamily="2" charset="2"/>
              </a:rPr>
              <a:t>(</a:t>
            </a:r>
            <a:r>
              <a:rPr lang="ko-KR" altLang="en-US" sz="3000" b="1" dirty="0">
                <a:solidFill>
                  <a:srgbClr val="1B2433"/>
                </a:solidFill>
                <a:latin typeface="Malgun Gothic"/>
                <a:sym typeface="Wingdings" panose="05000000000000000000" pitchFamily="2" charset="2"/>
              </a:rPr>
              <a:t>문제 </a:t>
            </a:r>
            <a:r>
              <a:rPr lang="en-US" altLang="ko-KR" sz="3000" b="1" dirty="0">
                <a:solidFill>
                  <a:srgbClr val="1B2433"/>
                </a:solidFill>
                <a:latin typeface="Malgun Gothic"/>
                <a:sym typeface="Wingdings" panose="05000000000000000000" pitchFamily="2" charset="2"/>
              </a:rPr>
              <a:t>&gt; </a:t>
            </a:r>
            <a:r>
              <a:rPr lang="ko-KR" altLang="en-US" sz="3000" b="1" dirty="0">
                <a:solidFill>
                  <a:srgbClr val="1B2433"/>
                </a:solidFill>
                <a:latin typeface="Malgun Gothic"/>
                <a:sym typeface="Wingdings" panose="05000000000000000000" pitchFamily="2" charset="2"/>
              </a:rPr>
              <a:t>원인 </a:t>
            </a:r>
            <a:r>
              <a:rPr lang="en-US" altLang="ko-KR" sz="3000" b="1" dirty="0">
                <a:solidFill>
                  <a:srgbClr val="1B2433"/>
                </a:solidFill>
                <a:latin typeface="Malgun Gothic"/>
                <a:sym typeface="Wingdings" panose="05000000000000000000" pitchFamily="2" charset="2"/>
              </a:rPr>
              <a:t>&gt; </a:t>
            </a:r>
            <a:r>
              <a:rPr lang="ko-KR" altLang="en-US" sz="3000" b="1" dirty="0">
                <a:solidFill>
                  <a:srgbClr val="1B2433"/>
                </a:solidFill>
                <a:latin typeface="Malgun Gothic"/>
                <a:sym typeface="Wingdings" panose="05000000000000000000" pitchFamily="2" charset="2"/>
              </a:rPr>
              <a:t>해결 </a:t>
            </a:r>
            <a:r>
              <a:rPr lang="en-US" altLang="ko-KR" sz="3000" b="1" dirty="0">
                <a:solidFill>
                  <a:srgbClr val="1B2433"/>
                </a:solidFill>
                <a:latin typeface="Malgun Gothic"/>
                <a:sym typeface="Wingdings" panose="05000000000000000000" pitchFamily="2" charset="2"/>
              </a:rPr>
              <a:t>&gt; </a:t>
            </a:r>
            <a:r>
              <a:rPr lang="ko-KR" altLang="en-US" sz="3000" b="1" dirty="0">
                <a:solidFill>
                  <a:srgbClr val="1B2433"/>
                </a:solidFill>
                <a:latin typeface="Malgun Gothic"/>
                <a:sym typeface="Wingdings" panose="05000000000000000000" pitchFamily="2" charset="2"/>
              </a:rPr>
              <a:t>결과</a:t>
            </a:r>
            <a:r>
              <a:rPr lang="en-US" sz="3000" b="1" dirty="0">
                <a:solidFill>
                  <a:srgbClr val="1B2433"/>
                </a:solidFill>
                <a:latin typeface="Malgun Gothic"/>
                <a:sym typeface="Wingdings" panose="05000000000000000000" pitchFamily="2" charset="2"/>
              </a:rPr>
              <a:t>)</a:t>
            </a:r>
            <a:r>
              <a:rPr lang="ko-KR" altLang="en-US" sz="3000" b="1" dirty="0">
                <a:solidFill>
                  <a:srgbClr val="1B2433"/>
                </a:solidFill>
                <a:latin typeface="Malgun Gothic"/>
              </a:rPr>
              <a:t> </a:t>
            </a:r>
            <a:endParaRPr sz="3000" b="1" dirty="0">
              <a:solidFill>
                <a:srgbClr val="1B2433"/>
              </a:solidFill>
              <a:latin typeface="Malgun Gothic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11A5B6-6EB0-C583-AB48-C9690A869F4A}"/>
              </a:ext>
            </a:extLst>
          </p:cNvPr>
          <p:cNvSpPr txBox="1"/>
          <p:nvPr/>
        </p:nvSpPr>
        <p:spPr>
          <a:xfrm>
            <a:off x="571500" y="138022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권지원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FD854B-B5E5-6A03-78B6-042C78E05C76}"/>
              </a:ext>
            </a:extLst>
          </p:cNvPr>
          <p:cNvSpPr txBox="1"/>
          <p:nvPr/>
        </p:nvSpPr>
        <p:spPr>
          <a:xfrm>
            <a:off x="672144" y="3980942"/>
            <a:ext cx="1019426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숙소사진 모서리가 </a:t>
            </a:r>
            <a:r>
              <a:rPr lang="ko-KR" altLang="ko-KR" dirty="0" err="1"/>
              <a:t>각짐</a:t>
            </a:r>
            <a:br>
              <a:rPr lang="ko-KR" altLang="ko-KR" dirty="0"/>
            </a:br>
            <a:r>
              <a:rPr lang="ko-KR" altLang="ko-KR" dirty="0" err="1"/>
              <a:t>border-radius</a:t>
            </a:r>
            <a:r>
              <a:rPr lang="ko-KR" altLang="ko-KR" dirty="0"/>
              <a:t>: </a:t>
            </a:r>
            <a:r>
              <a:rPr lang="ko-KR" altLang="ko-KR" dirty="0" err="1"/>
              <a:t>var</a:t>
            </a:r>
            <a:r>
              <a:rPr lang="ko-KR" altLang="ko-KR" dirty="0"/>
              <a:t>(--</a:t>
            </a:r>
            <a:r>
              <a:rPr lang="ko-KR" altLang="ko-KR" dirty="0" err="1"/>
              <a:t>radius</a:t>
            </a:r>
            <a:r>
              <a:rPr lang="ko-KR" altLang="ko-KR" dirty="0"/>
              <a:t>)인데 --</a:t>
            </a:r>
            <a:r>
              <a:rPr lang="ko-KR" altLang="ko-KR" dirty="0" err="1"/>
              <a:t>radius</a:t>
            </a:r>
            <a:r>
              <a:rPr lang="ko-KR" altLang="ko-KR" dirty="0"/>
              <a:t> 변수가 어디에도 없음</a:t>
            </a:r>
            <a:br>
              <a:rPr lang="ko-KR" altLang="ko-KR" dirty="0"/>
            </a:br>
            <a:r>
              <a:rPr lang="ko-KR" altLang="ko-KR" dirty="0"/>
              <a:t>16px-&gt;24px로 직접 지정</a:t>
            </a:r>
            <a:br>
              <a:rPr lang="ko-KR" altLang="ko-KR" dirty="0"/>
            </a:br>
            <a:r>
              <a:rPr lang="ko-KR" altLang="ko-KR" dirty="0" err="1"/>
              <a:t>페이지에잘보임</a:t>
            </a:r>
            <a:endParaRPr lang="ko-KR" altLang="ko-KR" dirty="0"/>
          </a:p>
          <a:p>
            <a:endParaRPr lang="ko-KR" altLang="ko-KR" sz="1800" dirty="0">
              <a:solidFill>
                <a:srgbClr val="1D1C1D"/>
              </a:solidFill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2CCE68-92C4-8A40-0F80-A62BD890C86D}"/>
              </a:ext>
            </a:extLst>
          </p:cNvPr>
          <p:cNvSpPr txBox="1"/>
          <p:nvPr/>
        </p:nvSpPr>
        <p:spPr>
          <a:xfrm>
            <a:off x="672144" y="358570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김미래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81330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효과와 다음 단계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6916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6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40280"/>
            <a:ext cx="4800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화면에서 핵심 행동이 분명해집니다.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헤더가 가벼워져 탐색 피로가 줄어듭니다.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넓어진 레이아웃으로 가독성이 높아집니다.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6916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6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240280"/>
            <a:ext cx="4800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사용자 흐름 및 경쟁 사이트 분석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와이어프레임 제작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UI 디자인 및 프로토타입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사용성 검토와 개선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615</Words>
  <Application>Microsoft Office PowerPoint</Application>
  <PresentationFormat>와이드스크린</PresentationFormat>
  <Paragraphs>118</Paragraphs>
  <Slides>16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tj</cp:lastModifiedBy>
  <cp:revision>9</cp:revision>
  <dcterms:created xsi:type="dcterms:W3CDTF">2026-10-06T01:49:19Z</dcterms:created>
  <dcterms:modified xsi:type="dcterms:W3CDTF">2026-10-06T03:49:28Z</dcterms:modified>
</cp:coreProperties>
</file>